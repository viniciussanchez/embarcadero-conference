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2" r:id="rId9"/>
    <p:sldId id="279" r:id="rId10"/>
    <p:sldId id="264" r:id="rId11"/>
    <p:sldId id="265" r:id="rId12"/>
    <p:sldId id="263" r:id="rId13"/>
    <p:sldId id="266" r:id="rId14"/>
    <p:sldId id="281" r:id="rId15"/>
    <p:sldId id="282" r:id="rId16"/>
    <p:sldId id="261" r:id="rId17"/>
  </p:sldIdLst>
  <p:sldSz cx="18288000" cy="10287000"/>
  <p:notesSz cx="6858000" cy="9144000"/>
  <p:embeddedFontLst>
    <p:embeddedFont>
      <p:font typeface="Bebas Neue" panose="020B0606020202050201" pitchFamily="34" charset="0"/>
      <p:regular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  <p:embeddedFont>
      <p:font typeface="Open Sans Italics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59FC"/>
    <a:srgbClr val="FFECED"/>
    <a:srgbClr val="020BD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4436" autoAdjust="0"/>
  </p:normalViewPr>
  <p:slideViewPr>
    <p:cSldViewPr>
      <p:cViewPr varScale="1">
        <p:scale>
          <a:sx n="63" d="100"/>
          <a:sy n="63" d="100"/>
        </p:scale>
        <p:origin x="281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sv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12" Type="http://schemas.openxmlformats.org/officeDocument/2006/relationships/image" Target="../media/image1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svg"/><Relationship Id="rId1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jpeg"/><Relationship Id="rId7" Type="http://schemas.openxmlformats.org/officeDocument/2006/relationships/image" Target="../media/image30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E418FB93-4AA4-1F94-5E33-0AF5B3F9EE7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9BF3D83-81E2-1DB1-4AD1-98FA84C5ED6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028700" y="3315435"/>
            <a:ext cx="16230600" cy="1828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18"/>
              </a:lnSpc>
            </a:pPr>
            <a:r>
              <a:rPr lang="en-US" sz="6400" dirty="0" err="1">
                <a:solidFill>
                  <a:srgbClr val="FFECED"/>
                </a:solidFill>
                <a:latin typeface="Bebas Neue" panose="020B0606020202050201" pitchFamily="34" charset="0"/>
                <a:ea typeface="Audiowide"/>
                <a:cs typeface="Audiowide"/>
                <a:sym typeface="Audiowide"/>
              </a:rPr>
              <a:t>Escalando</a:t>
            </a:r>
            <a:r>
              <a:rPr lang="en-US" sz="6400" dirty="0">
                <a:solidFill>
                  <a:srgbClr val="FFECED"/>
                </a:solidFill>
                <a:latin typeface="Bebas Neue" panose="020B0606020202050201" pitchFamily="34" charset="0"/>
                <a:ea typeface="Audiowide"/>
                <a:cs typeface="Audiowide"/>
                <a:sym typeface="Audiowide"/>
              </a:rPr>
              <a:t> </a:t>
            </a:r>
            <a:r>
              <a:rPr lang="en-US" sz="6400" dirty="0" err="1">
                <a:solidFill>
                  <a:srgbClr val="FFECED"/>
                </a:solidFill>
                <a:latin typeface="Bebas Neue" panose="020B0606020202050201" pitchFamily="34" charset="0"/>
                <a:ea typeface="Audiowide"/>
                <a:cs typeface="Audiowide"/>
                <a:sym typeface="Audiowide"/>
              </a:rPr>
              <a:t>apis</a:t>
            </a:r>
            <a:r>
              <a:rPr lang="en-US" sz="6400" dirty="0">
                <a:solidFill>
                  <a:srgbClr val="FFECED"/>
                </a:solidFill>
                <a:latin typeface="Bebas Neue" panose="020B0606020202050201" pitchFamily="34" charset="0"/>
                <a:ea typeface="Audiowide"/>
                <a:cs typeface="Audiowide"/>
                <a:sym typeface="Audiowide"/>
              </a:rPr>
              <a:t> horse </a:t>
            </a:r>
            <a:r>
              <a:rPr lang="en-US" sz="6400" dirty="0" err="1">
                <a:solidFill>
                  <a:srgbClr val="FFECED"/>
                </a:solidFill>
                <a:latin typeface="Bebas Neue" panose="020B0606020202050201" pitchFamily="34" charset="0"/>
                <a:ea typeface="Audiowide"/>
                <a:cs typeface="Audiowide"/>
                <a:sym typeface="Audiowide"/>
              </a:rPr>
              <a:t>horizontalmente</a:t>
            </a:r>
            <a:r>
              <a:rPr lang="en-US" sz="6400" dirty="0">
                <a:solidFill>
                  <a:srgbClr val="FFECED"/>
                </a:solidFill>
                <a:latin typeface="Bebas Neue" panose="020B0606020202050201" pitchFamily="34" charset="0"/>
                <a:ea typeface="Audiowide"/>
                <a:cs typeface="Audiowide"/>
                <a:sym typeface="Audiowide"/>
              </a:rPr>
              <a:t> com docker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0423" y="5608330"/>
            <a:ext cx="14525773" cy="588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41"/>
              </a:lnSpc>
            </a:pPr>
            <a:r>
              <a:rPr lang="en-US" sz="4800" dirty="0">
                <a:solidFill>
                  <a:srgbClr val="FFECED"/>
                </a:solidFill>
                <a:latin typeface="Bebas Neue" panose="020B0606020202050201" pitchFamily="34" charset="0"/>
                <a:ea typeface="Gabarito"/>
                <a:cs typeface="Gabarito"/>
                <a:sym typeface="Gabarito"/>
              </a:rPr>
              <a:t>Vinicius </a:t>
            </a:r>
            <a:r>
              <a:rPr lang="en-US" sz="4800" dirty="0" err="1">
                <a:solidFill>
                  <a:srgbClr val="FFECED"/>
                </a:solidFill>
                <a:latin typeface="Bebas Neue" panose="020B0606020202050201" pitchFamily="34" charset="0"/>
                <a:ea typeface="Gabarito"/>
                <a:cs typeface="Gabarito"/>
                <a:sym typeface="Gabarito"/>
              </a:rPr>
              <a:t>sanchez</a:t>
            </a:r>
            <a:endParaRPr lang="en-US" sz="4800" dirty="0">
              <a:solidFill>
                <a:srgbClr val="FFECED"/>
              </a:solidFill>
              <a:latin typeface="Bebas Neue" panose="020B0606020202050201" pitchFamily="34" charset="0"/>
              <a:ea typeface="Gabarito"/>
              <a:cs typeface="Gabarito"/>
              <a:sym typeface="Gabarito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6530147"/>
            <a:ext cx="14525773" cy="2125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1"/>
              </a:lnSpc>
            </a:pPr>
            <a:r>
              <a:rPr lang="en-US" sz="32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Nesta palestra vamos além da teoria: compilar uma API Horse para Linux com o PAServer, colocar o NGINX na frente como load balancer e escalar tudo horizontalmente ao vivo com Docker Compose.</a:t>
            </a: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CADF3E81-2A3A-871F-DA81-F5885FF0BA9B}"/>
              </a:ext>
            </a:extLst>
          </p:cNvPr>
          <p:cNvCxnSpPr/>
          <p:nvPr/>
        </p:nvCxnSpPr>
        <p:spPr>
          <a:xfrm>
            <a:off x="1028700" y="4706703"/>
            <a:ext cx="4621643" cy="0"/>
          </a:xfrm>
          <a:prstGeom prst="line">
            <a:avLst/>
          </a:prstGeom>
          <a:ln w="76200">
            <a:solidFill>
              <a:srgbClr val="5A59F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02D7F0D0-A466-DC3D-D271-AA67D3177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66700"/>
            <a:ext cx="14630400" cy="9753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6879948-6528-1C9A-E721-F46F3ADB10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358" y="1882942"/>
            <a:ext cx="6248400" cy="6248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2F26C69-E085-BA55-5231-8D4C0D14F91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" y="-21624"/>
            <a:ext cx="18285714" cy="10285714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0" y="-966188"/>
            <a:ext cx="18288000" cy="106816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285"/>
              </a:lnSpc>
            </a:pPr>
            <a:endParaRPr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EC47C7A-F859-B441-2B22-74F389293D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785A2DA9-DF61-3F6F-7948-85CFF8DDFD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9327" y="7261543"/>
            <a:ext cx="2286000" cy="752475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B85E4FE1-17B5-EECE-83E1-35EE125EBB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40629" y="5427719"/>
            <a:ext cx="2373020" cy="526094"/>
          </a:xfrm>
          <a:prstGeom prst="rect">
            <a:avLst/>
          </a:prstGeom>
        </p:spPr>
      </p:pic>
      <p:pic>
        <p:nvPicPr>
          <p:cNvPr id="22" name="Gráfico 21">
            <a:extLst>
              <a:ext uri="{FF2B5EF4-FFF2-40B4-BE49-F238E27FC236}">
                <a16:creationId xmlns:a16="http://schemas.microsoft.com/office/drawing/2014/main" id="{5D550D60-7A88-526D-6F7F-2CC36FAA29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9200" y="6466010"/>
            <a:ext cx="2447925" cy="542925"/>
          </a:xfrm>
          <a:prstGeom prst="rect">
            <a:avLst/>
          </a:prstGeom>
        </p:spPr>
      </p:pic>
      <p:pic>
        <p:nvPicPr>
          <p:cNvPr id="24" name="Gráfico 23">
            <a:extLst>
              <a:ext uri="{FF2B5EF4-FFF2-40B4-BE49-F238E27FC236}">
                <a16:creationId xmlns:a16="http://schemas.microsoft.com/office/drawing/2014/main" id="{16B3F513-F061-C7D0-48B4-5BA63FEB10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40629" y="4329390"/>
            <a:ext cx="2061828" cy="739474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10829414-F26C-3420-269E-1506E30E3F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99003" y="4393544"/>
            <a:ext cx="1504425" cy="599220"/>
          </a:xfrm>
          <a:prstGeom prst="rect">
            <a:avLst/>
          </a:prstGeom>
        </p:spPr>
      </p:pic>
      <p:pic>
        <p:nvPicPr>
          <p:cNvPr id="28" name="Gráfico 27">
            <a:extLst>
              <a:ext uri="{FF2B5EF4-FFF2-40B4-BE49-F238E27FC236}">
                <a16:creationId xmlns:a16="http://schemas.microsoft.com/office/drawing/2014/main" id="{47989EF6-AFAE-77CD-9BC4-BFC98DF324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95764" y="3099605"/>
            <a:ext cx="2061828" cy="969059"/>
          </a:xfrm>
          <a:prstGeom prst="rect">
            <a:avLst/>
          </a:prstGeom>
        </p:spPr>
      </p:pic>
      <p:pic>
        <p:nvPicPr>
          <p:cNvPr id="30" name="Gráfico 29">
            <a:extLst>
              <a:ext uri="{FF2B5EF4-FFF2-40B4-BE49-F238E27FC236}">
                <a16:creationId xmlns:a16="http://schemas.microsoft.com/office/drawing/2014/main" id="{7CC283F2-FBA5-CDC0-21DE-181AEDBF19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05240" y="3222727"/>
            <a:ext cx="2502200" cy="679789"/>
          </a:xfrm>
          <a:prstGeom prst="rect">
            <a:avLst/>
          </a:prstGeom>
        </p:spPr>
      </p:pic>
      <p:pic>
        <p:nvPicPr>
          <p:cNvPr id="32" name="Gráfico 31">
            <a:extLst>
              <a:ext uri="{FF2B5EF4-FFF2-40B4-BE49-F238E27FC236}">
                <a16:creationId xmlns:a16="http://schemas.microsoft.com/office/drawing/2014/main" id="{719CDCE9-BE93-D877-F9B1-A7B59B9A67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39658" y="4431644"/>
            <a:ext cx="1257657" cy="520848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F2FCA152-1AFB-59B1-6DC6-5ECD54B2AA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36722" y="5278505"/>
            <a:ext cx="1266122" cy="743847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5B2A6842-1365-FA55-33FB-2477D393A6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77510" y="5508519"/>
            <a:ext cx="1504425" cy="339233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91499DED-A5D1-B649-422D-7202A1B0DE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99141" y="6466010"/>
            <a:ext cx="2657475" cy="542925"/>
          </a:xfrm>
          <a:prstGeom prst="rect">
            <a:avLst/>
          </a:prstGeom>
        </p:spPr>
      </p:pic>
      <p:pic>
        <p:nvPicPr>
          <p:cNvPr id="39" name="Imagem 38" descr="Apresentação do PowerPoint">
            <a:extLst>
              <a:ext uri="{FF2B5EF4-FFF2-40B4-BE49-F238E27FC236}">
                <a16:creationId xmlns:a16="http://schemas.microsoft.com/office/drawing/2014/main" id="{B050D211-C2C0-353F-99EA-F8BE360A53C3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3332380" y="2075379"/>
            <a:ext cx="2061828" cy="5758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9EFAB840-3CE4-1305-242F-02DE85E95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66700"/>
            <a:ext cx="1463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0363A3-C7C7-F2B0-D0B0-81482D2B6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3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1085394" cy="10287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A1891178-B86B-BA4C-8586-8A4A7D532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66700"/>
            <a:ext cx="146304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026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0" y="-966188"/>
            <a:ext cx="18288000" cy="106816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285"/>
              </a:lnSpc>
            </a:pPr>
            <a:endParaRPr/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83ECFAFE-8F20-EFD7-05B0-D950D4B97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66700"/>
            <a:ext cx="1463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0" y="-966188"/>
            <a:ext cx="18288000" cy="106816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285"/>
              </a:lnSpc>
            </a:pPr>
            <a:endParaRPr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4ECA0BE7-0CB4-8D7D-466A-9CFDFA32A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66700"/>
            <a:ext cx="1463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CC962E3-B3C8-4289-3EE6-09BB20AD5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66700"/>
            <a:ext cx="1463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0" y="-966188"/>
            <a:ext cx="18288000" cy="106816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285"/>
              </a:lnSpc>
            </a:pPr>
            <a:endParaRPr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5B245A1-1CF7-DEBE-00D1-A52BB0E78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747712"/>
            <a:ext cx="16230600" cy="87915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5630B-9626-16A7-05B9-105E9273E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0820C779-C0EE-A6AD-582B-7517EF3A5E6D}"/>
              </a:ext>
            </a:extLst>
          </p:cNvPr>
          <p:cNvSpPr txBox="1"/>
          <p:nvPr/>
        </p:nvSpPr>
        <p:spPr>
          <a:xfrm>
            <a:off x="0" y="-966188"/>
            <a:ext cx="18288000" cy="106816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285"/>
              </a:lnSpc>
            </a:pPr>
            <a:endParaRPr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3FA2D43-C5E8-4918-4D68-8E00D8C9E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87" y="0"/>
            <a:ext cx="16821625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113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77240" y="475488"/>
            <a:ext cx="82296" cy="685800"/>
          </a:xfrm>
          <a:prstGeom prst="rect">
            <a:avLst/>
          </a:prstGeom>
          <a:solidFill>
            <a:srgbClr val="F27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2" y="384048"/>
            <a:ext cx="138074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3400" b="1" i="0" dirty="0">
                <a:solidFill>
                  <a:srgbClr val="0D0D0D"/>
                </a:solidFill>
                <a:latin typeface="Arial"/>
              </a:rPr>
              <a:t>DOCKER COMPOSE X </a:t>
            </a:r>
            <a:r>
              <a:rPr sz="3400" b="1" i="0" dirty="0">
                <a:solidFill>
                  <a:srgbClr val="F2701C"/>
                </a:solidFill>
                <a:latin typeface="Arial"/>
              </a:rPr>
              <a:t>KUBERNETES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1196340"/>
            <a:ext cx="1647748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2400" b="0" i="0" dirty="0">
                <a:solidFill>
                  <a:srgbClr val="4A4A4A"/>
                </a:solidFill>
                <a:latin typeface="Calibri"/>
              </a:rPr>
              <a:t>Docker Compose </a:t>
            </a:r>
            <a:r>
              <a:rPr sz="2400" b="0" i="0" dirty="0" err="1">
                <a:solidFill>
                  <a:srgbClr val="4A4A4A"/>
                </a:solidFill>
                <a:latin typeface="Calibri"/>
              </a:rPr>
              <a:t>escala</a:t>
            </a:r>
            <a:r>
              <a:rPr sz="24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4A4A4A"/>
                </a:solidFill>
                <a:latin typeface="Calibri"/>
              </a:rPr>
              <a:t>muito</a:t>
            </a:r>
            <a:r>
              <a:rPr sz="24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4A4A4A"/>
                </a:solidFill>
                <a:latin typeface="Calibri"/>
              </a:rPr>
              <a:t>bem</a:t>
            </a:r>
            <a:r>
              <a:rPr sz="24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4A4A4A"/>
                </a:solidFill>
                <a:latin typeface="Calibri"/>
              </a:rPr>
              <a:t>numa</a:t>
            </a:r>
            <a:r>
              <a:rPr sz="24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4A4A4A"/>
                </a:solidFill>
                <a:latin typeface="Calibri"/>
              </a:rPr>
              <a:t>máquina</a:t>
            </a:r>
            <a:r>
              <a:rPr sz="2400" b="0" i="0" dirty="0">
                <a:solidFill>
                  <a:srgbClr val="4A4A4A"/>
                </a:solidFill>
                <a:latin typeface="Calibri"/>
              </a:rPr>
              <a:t> s</a:t>
            </a:r>
            <a:r>
              <a:rPr lang="pt-BR" sz="2400" b="0" i="0" dirty="0">
                <a:solidFill>
                  <a:srgbClr val="4A4A4A"/>
                </a:solidFill>
                <a:latin typeface="Calibri"/>
              </a:rPr>
              <a:t>ó.</a:t>
            </a:r>
            <a:r>
              <a:rPr sz="2400" b="0" i="0" dirty="0">
                <a:solidFill>
                  <a:srgbClr val="4A4A4A"/>
                </a:solidFill>
                <a:latin typeface="Calibri"/>
              </a:rPr>
              <a:t> Com </a:t>
            </a:r>
            <a:r>
              <a:rPr sz="2400" b="0" i="0" dirty="0" err="1">
                <a:solidFill>
                  <a:srgbClr val="4A4A4A"/>
                </a:solidFill>
                <a:latin typeface="Calibri"/>
              </a:rPr>
              <a:t>várias</a:t>
            </a:r>
            <a:r>
              <a:rPr sz="24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4A4A4A"/>
                </a:solidFill>
                <a:latin typeface="Calibri"/>
              </a:rPr>
              <a:t>máquinas</a:t>
            </a:r>
            <a:r>
              <a:rPr sz="24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4A4A4A"/>
                </a:solidFill>
                <a:latin typeface="Calibri"/>
              </a:rPr>
              <a:t>em</a:t>
            </a:r>
            <a:r>
              <a:rPr sz="24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4A4A4A"/>
                </a:solidFill>
                <a:latin typeface="Calibri"/>
              </a:rPr>
              <a:t>produção</a:t>
            </a:r>
            <a:r>
              <a:rPr sz="2400" b="0" i="0" dirty="0">
                <a:solidFill>
                  <a:srgbClr val="4A4A4A"/>
                </a:solidFill>
                <a:latin typeface="Calibri"/>
              </a:rPr>
              <a:t>, quem assume esse </a:t>
            </a:r>
            <a:r>
              <a:rPr sz="2400" b="0" i="0" dirty="0" err="1">
                <a:solidFill>
                  <a:srgbClr val="4A4A4A"/>
                </a:solidFill>
                <a:latin typeface="Calibri"/>
              </a:rPr>
              <a:t>papel</a:t>
            </a:r>
            <a:r>
              <a:rPr sz="2400" b="0" i="0" dirty="0">
                <a:solidFill>
                  <a:srgbClr val="4A4A4A"/>
                </a:solidFill>
                <a:latin typeface="Calibri"/>
              </a:rPr>
              <a:t> é um </a:t>
            </a:r>
            <a:r>
              <a:rPr sz="2400" b="0" i="0" dirty="0" err="1">
                <a:solidFill>
                  <a:srgbClr val="4A4A4A"/>
                </a:solidFill>
                <a:latin typeface="Calibri"/>
              </a:rPr>
              <a:t>orquestrador</a:t>
            </a:r>
            <a:r>
              <a:rPr sz="24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4A4A4A"/>
                </a:solidFill>
                <a:latin typeface="Calibri"/>
              </a:rPr>
              <a:t>como</a:t>
            </a:r>
            <a:r>
              <a:rPr sz="2400" b="0" i="0" dirty="0">
                <a:solidFill>
                  <a:srgbClr val="4A4A4A"/>
                </a:solidFill>
                <a:latin typeface="Calibri"/>
              </a:rPr>
              <a:t> o Kubernetes.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8138160" cy="6263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2225">
            <a:solidFill>
              <a:srgbClr val="1B6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" y="2697480"/>
            <a:ext cx="685800" cy="685800"/>
          </a:xfrm>
          <a:prstGeom prst="ellipse">
            <a:avLst/>
          </a:prstGeom>
          <a:solidFill>
            <a:srgbClr val="1B6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DC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697480"/>
            <a:ext cx="649224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900" b="1" i="0" dirty="0">
                <a:solidFill>
                  <a:srgbClr val="1B66B8"/>
                </a:solidFill>
                <a:latin typeface="Arial"/>
              </a:rPr>
              <a:t>DOCKER COMPOSE (demo)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657600"/>
            <a:ext cx="7406640" cy="502920"/>
          </a:xfrm>
          <a:prstGeom prst="roundRect">
            <a:avLst>
              <a:gd name="adj" fmla="val 15000"/>
            </a:avLst>
          </a:prstGeom>
          <a:solidFill>
            <a:srgbClr val="24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07592" y="3657600"/>
            <a:ext cx="7077456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250" b="0" i="0">
                <a:solidFill>
                  <a:srgbClr val="E8E8E8"/>
                </a:solidFill>
                <a:latin typeface="Courier New"/>
              </a:rPr>
              <a:t>docker compose up -d --scale api=3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480560"/>
            <a:ext cx="7406640" cy="3749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1" i="0" dirty="0">
                <a:solidFill>
                  <a:srgbClr val="1B66B8"/>
                </a:solidFill>
                <a:latin typeface="Calibri"/>
              </a:rPr>
              <a:t>→  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1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máquina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só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,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vários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 containers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lado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 a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lado</a:t>
            </a:r>
            <a:endParaRPr sz="2000" b="0" i="0" dirty="0">
              <a:solidFill>
                <a:srgbClr val="0D0D0D"/>
              </a:solidFill>
              <a:latin typeface="Calibri"/>
            </a:endParaRP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1" i="0" dirty="0">
                <a:solidFill>
                  <a:srgbClr val="1B66B8"/>
                </a:solidFill>
                <a:latin typeface="Calibri"/>
              </a:rPr>
              <a:t>→  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Escala sob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comando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, manual,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disparada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por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você</a:t>
            </a:r>
            <a:endParaRPr sz="2000" b="0" i="0" dirty="0">
              <a:solidFill>
                <a:srgbClr val="0D0D0D"/>
              </a:solidFill>
              <a:latin typeface="Calibri"/>
            </a:endParaRP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1" i="0" dirty="0">
                <a:solidFill>
                  <a:srgbClr val="1B66B8"/>
                </a:solidFill>
                <a:latin typeface="Calibri"/>
              </a:rPr>
              <a:t>→  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NGINX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faz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 o load balancing entre as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réplicas</a:t>
            </a:r>
            <a:endParaRPr sz="2000" b="0" i="0" dirty="0">
              <a:solidFill>
                <a:srgbClr val="0D0D0D"/>
              </a:solidFill>
              <a:latin typeface="Calibri"/>
            </a:endParaRP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1" i="0" dirty="0">
                <a:solidFill>
                  <a:srgbClr val="1B66B8"/>
                </a:solidFill>
                <a:latin typeface="Calibri"/>
              </a:rPr>
              <a:t>→  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Se a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máquina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cair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,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cai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tudo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 junto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1" i="0" dirty="0">
                <a:solidFill>
                  <a:srgbClr val="1B66B8"/>
                </a:solidFill>
                <a:latin typeface="Calibri"/>
              </a:rPr>
              <a:t>→ 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Perfeito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pra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aprender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 o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conceito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 e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pra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 demos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ao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 vivo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2331720"/>
            <a:ext cx="8138160" cy="6263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2225">
            <a:solidFill>
              <a:srgbClr val="2792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738360" y="2697480"/>
            <a:ext cx="685800" cy="685800"/>
          </a:xfrm>
          <a:prstGeom prst="ellipse">
            <a:avLst/>
          </a:prstGeom>
          <a:solidFill>
            <a:srgbClr val="279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K8s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2697480"/>
            <a:ext cx="649224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900" b="1" i="0">
                <a:solidFill>
                  <a:srgbClr val="27924C"/>
                </a:solidFill>
                <a:latin typeface="Arial"/>
              </a:rPr>
              <a:t>KUBERNETES (produção)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38360" y="3657600"/>
            <a:ext cx="7406640" cy="502920"/>
          </a:xfrm>
          <a:prstGeom prst="roundRect">
            <a:avLst>
              <a:gd name="adj" fmla="val 15000"/>
            </a:avLst>
          </a:prstGeom>
          <a:solidFill>
            <a:srgbClr val="242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02952" y="3657600"/>
            <a:ext cx="7077456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250" b="0" i="0">
                <a:solidFill>
                  <a:srgbClr val="E8E8E8"/>
                </a:solidFill>
                <a:latin typeface="Courier New"/>
              </a:rPr>
              <a:t>kubectl scale deployment api --replicas=3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8360" y="4480560"/>
            <a:ext cx="7406640" cy="3749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1" i="0" dirty="0">
                <a:solidFill>
                  <a:srgbClr val="27924C"/>
                </a:solidFill>
                <a:latin typeface="Calibri"/>
              </a:rPr>
              <a:t>→  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Cluster: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várias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máquinas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 (nodes)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trabalhando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 juntas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1" i="0" dirty="0">
                <a:solidFill>
                  <a:srgbClr val="27924C"/>
                </a:solidFill>
                <a:latin typeface="Calibri"/>
              </a:rPr>
              <a:t>→  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Escala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automática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por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métrica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 (CPU,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requisições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) via HPA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1" i="0" dirty="0">
                <a:solidFill>
                  <a:srgbClr val="27924C"/>
                </a:solidFill>
                <a:latin typeface="Calibri"/>
              </a:rPr>
              <a:t>→  </a:t>
            </a:r>
            <a:r>
              <a:rPr lang="pt-BR" sz="2000" b="0" i="0" dirty="0">
                <a:solidFill>
                  <a:srgbClr val="0D0D0D"/>
                </a:solidFill>
                <a:latin typeface="Calibri"/>
              </a:rPr>
              <a:t>L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oad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 balancing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nativamente</a:t>
            </a:r>
            <a:endParaRPr sz="2000" b="0" i="0" dirty="0">
              <a:solidFill>
                <a:srgbClr val="0D0D0D"/>
              </a:solidFill>
              <a:latin typeface="Calibri"/>
            </a:endParaRP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1" i="0" dirty="0">
                <a:solidFill>
                  <a:srgbClr val="27924C"/>
                </a:solidFill>
                <a:latin typeface="Calibri"/>
              </a:rPr>
              <a:t>→  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Self-healing: pod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morreu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, o Kubernetes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sobe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 outro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sozinho</a:t>
            </a:r>
            <a:endParaRPr sz="2000" b="0" i="0" dirty="0">
              <a:solidFill>
                <a:srgbClr val="0D0D0D"/>
              </a:solidFill>
              <a:latin typeface="Calibri"/>
            </a:endParaRP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1" i="0" dirty="0">
                <a:solidFill>
                  <a:srgbClr val="27924C"/>
                </a:solidFill>
                <a:latin typeface="Calibri"/>
              </a:rPr>
              <a:t>→ 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Mesmo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conceito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 da demo,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só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que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distribuído</a:t>
            </a:r>
            <a:r>
              <a:rPr sz="2000" b="0" i="0" dirty="0">
                <a:solidFill>
                  <a:srgbClr val="0D0D0D"/>
                </a:solidFill>
                <a:latin typeface="Calibri"/>
              </a:rPr>
              <a:t> e </a:t>
            </a:r>
            <a:r>
              <a:rPr sz="2000" b="0" i="0" dirty="0" err="1">
                <a:solidFill>
                  <a:srgbClr val="0D0D0D"/>
                </a:solidFill>
                <a:latin typeface="Calibri"/>
              </a:rPr>
              <a:t>automatizado</a:t>
            </a:r>
            <a:endParaRPr sz="2000" b="0" i="0" dirty="0">
              <a:solidFill>
                <a:srgbClr val="0D0D0D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143000" y="6995160"/>
            <a:ext cx="7406640" cy="1234440"/>
          </a:xfrm>
          <a:prstGeom prst="roundRect">
            <a:avLst>
              <a:gd name="adj" fmla="val 12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292096" y="7159752"/>
            <a:ext cx="384048" cy="384048"/>
          </a:xfrm>
          <a:prstGeom prst="ellipse">
            <a:avLst/>
          </a:prstGeom>
          <a:solidFill>
            <a:srgbClr val="1B6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71600" y="7616952"/>
            <a:ext cx="2225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b="1" i="0">
                <a:solidFill>
                  <a:srgbClr val="0D0D0D"/>
                </a:solidFill>
                <a:latin typeface="Calibri"/>
              </a:rPr>
              <a:t>1 host</a:t>
            </a:r>
          </a:p>
        </p:txBody>
      </p:sp>
      <p:sp>
        <p:nvSpPr>
          <p:cNvPr id="21" name="Oval 20"/>
          <p:cNvSpPr/>
          <p:nvPr/>
        </p:nvSpPr>
        <p:spPr>
          <a:xfrm>
            <a:off x="4654296" y="7159752"/>
            <a:ext cx="384048" cy="384048"/>
          </a:xfrm>
          <a:prstGeom prst="ellipse">
            <a:avLst/>
          </a:prstGeom>
          <a:solidFill>
            <a:srgbClr val="1B6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33800" y="7616952"/>
            <a:ext cx="2225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b="1" i="0">
                <a:solidFill>
                  <a:srgbClr val="0D0D0D"/>
                </a:solidFill>
                <a:latin typeface="Calibri"/>
              </a:rPr>
              <a:t>Manual</a:t>
            </a:r>
          </a:p>
        </p:txBody>
      </p:sp>
      <p:sp>
        <p:nvSpPr>
          <p:cNvPr id="23" name="Oval 22"/>
          <p:cNvSpPr/>
          <p:nvPr/>
        </p:nvSpPr>
        <p:spPr>
          <a:xfrm>
            <a:off x="7016496" y="7159752"/>
            <a:ext cx="384048" cy="384048"/>
          </a:xfrm>
          <a:prstGeom prst="ellipse">
            <a:avLst/>
          </a:prstGeom>
          <a:solidFill>
            <a:srgbClr val="1B6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96000" y="7616952"/>
            <a:ext cx="2225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b="1" i="0">
                <a:solidFill>
                  <a:srgbClr val="0D0D0D"/>
                </a:solidFill>
                <a:latin typeface="Calibri"/>
              </a:rPr>
              <a:t>Simples de começar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38360" y="6995160"/>
            <a:ext cx="7406640" cy="1234440"/>
          </a:xfrm>
          <a:prstGeom prst="roundRect">
            <a:avLst>
              <a:gd name="adj" fmla="val 12000"/>
            </a:avLst>
          </a:prstGeom>
          <a:solidFill>
            <a:srgbClr val="E9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887456" y="7159752"/>
            <a:ext cx="384048" cy="384048"/>
          </a:xfrm>
          <a:prstGeom prst="ellipse">
            <a:avLst/>
          </a:prstGeom>
          <a:solidFill>
            <a:srgbClr val="279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66960" y="7616952"/>
            <a:ext cx="2225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b="1" i="0">
                <a:solidFill>
                  <a:srgbClr val="0D0D0D"/>
                </a:solidFill>
                <a:latin typeface="Calibri"/>
              </a:rPr>
              <a:t>Multi-host</a:t>
            </a:r>
          </a:p>
        </p:txBody>
      </p:sp>
      <p:sp>
        <p:nvSpPr>
          <p:cNvPr id="28" name="Oval 27"/>
          <p:cNvSpPr/>
          <p:nvPr/>
        </p:nvSpPr>
        <p:spPr>
          <a:xfrm>
            <a:off x="13249656" y="7159752"/>
            <a:ext cx="384048" cy="384048"/>
          </a:xfrm>
          <a:prstGeom prst="ellipse">
            <a:avLst/>
          </a:prstGeom>
          <a:solidFill>
            <a:srgbClr val="279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329160" y="7616952"/>
            <a:ext cx="2225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b="1" i="0">
                <a:solidFill>
                  <a:srgbClr val="0D0D0D"/>
                </a:solidFill>
                <a:latin typeface="Calibri"/>
              </a:rPr>
              <a:t>Auto-scaling</a:t>
            </a:r>
          </a:p>
        </p:txBody>
      </p:sp>
      <p:sp>
        <p:nvSpPr>
          <p:cNvPr id="30" name="Oval 29"/>
          <p:cNvSpPr/>
          <p:nvPr/>
        </p:nvSpPr>
        <p:spPr>
          <a:xfrm>
            <a:off x="15611856" y="7159752"/>
            <a:ext cx="384048" cy="384048"/>
          </a:xfrm>
          <a:prstGeom prst="ellipse">
            <a:avLst/>
          </a:prstGeom>
          <a:solidFill>
            <a:srgbClr val="279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4691360" y="7616952"/>
            <a:ext cx="2225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b="1" i="0">
                <a:solidFill>
                  <a:srgbClr val="0D0D0D"/>
                </a:solidFill>
                <a:latin typeface="Calibri"/>
              </a:rPr>
              <a:t>Self-healing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8869680"/>
            <a:ext cx="16733520" cy="1005840"/>
          </a:xfrm>
          <a:prstGeom prst="roundRect">
            <a:avLst>
              <a:gd name="adj" fmla="val 2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97280" y="9121140"/>
            <a:ext cx="502920" cy="502920"/>
          </a:xfrm>
          <a:prstGeom prst="ellipse">
            <a:avLst/>
          </a:prstGeom>
          <a:solidFill>
            <a:srgbClr val="F27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8869680"/>
            <a:ext cx="15316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500" b="1" i="0" dirty="0">
                <a:solidFill>
                  <a:srgbClr val="0D0D0D"/>
                </a:solidFill>
                <a:latin typeface="Arial"/>
              </a:rPr>
              <a:t>RESUMO:  </a:t>
            </a:r>
            <a:r>
              <a:rPr sz="2000" b="0" i="0" dirty="0">
                <a:solidFill>
                  <a:srgbClr val="4A4A4A"/>
                </a:solidFill>
                <a:latin typeface="Calibri"/>
              </a:rPr>
              <a:t>Docker Compose </a:t>
            </a:r>
            <a:r>
              <a:rPr sz="2000" b="0" i="0" dirty="0" err="1">
                <a:solidFill>
                  <a:srgbClr val="4A4A4A"/>
                </a:solidFill>
                <a:latin typeface="Calibri"/>
              </a:rPr>
              <a:t>já</a:t>
            </a:r>
            <a:r>
              <a:rPr sz="20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A4A4A"/>
                </a:solidFill>
                <a:latin typeface="Calibri"/>
              </a:rPr>
              <a:t>mostra</a:t>
            </a:r>
            <a:r>
              <a:rPr sz="2000" b="0" i="0" dirty="0">
                <a:solidFill>
                  <a:srgbClr val="4A4A4A"/>
                </a:solidFill>
                <a:latin typeface="Calibri"/>
              </a:rPr>
              <a:t> o </a:t>
            </a:r>
            <a:r>
              <a:rPr sz="2000" b="0" i="0" dirty="0" err="1">
                <a:solidFill>
                  <a:srgbClr val="4A4A4A"/>
                </a:solidFill>
                <a:latin typeface="Calibri"/>
              </a:rPr>
              <a:t>conceito</a:t>
            </a:r>
            <a:r>
              <a:rPr sz="2000" b="0" i="0" dirty="0">
                <a:solidFill>
                  <a:srgbClr val="4A4A4A"/>
                </a:solidFill>
                <a:latin typeface="Calibri"/>
              </a:rPr>
              <a:t> de </a:t>
            </a:r>
            <a:r>
              <a:rPr sz="2000" b="0" i="0" dirty="0" err="1">
                <a:solidFill>
                  <a:srgbClr val="4A4A4A"/>
                </a:solidFill>
                <a:latin typeface="Calibri"/>
              </a:rPr>
              <a:t>escalar</a:t>
            </a:r>
            <a:r>
              <a:rPr sz="20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A4A4A"/>
                </a:solidFill>
                <a:latin typeface="Calibri"/>
              </a:rPr>
              <a:t>horizontalmente</a:t>
            </a:r>
            <a:r>
              <a:rPr sz="2000" b="0" i="0" dirty="0">
                <a:solidFill>
                  <a:srgbClr val="4A4A4A"/>
                </a:solidFill>
                <a:latin typeface="Calibri"/>
              </a:rPr>
              <a:t>. Kubernetes é a </a:t>
            </a:r>
            <a:r>
              <a:rPr sz="2000" b="0" i="0" dirty="0" err="1">
                <a:solidFill>
                  <a:srgbClr val="4A4A4A"/>
                </a:solidFill>
                <a:latin typeface="Calibri"/>
              </a:rPr>
              <a:t>mesma</a:t>
            </a:r>
            <a:r>
              <a:rPr sz="20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A4A4A"/>
                </a:solidFill>
                <a:latin typeface="Calibri"/>
              </a:rPr>
              <a:t>ideia</a:t>
            </a:r>
            <a:r>
              <a:rPr sz="20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A4A4A"/>
                </a:solidFill>
                <a:latin typeface="Calibri"/>
              </a:rPr>
              <a:t>levada</a:t>
            </a:r>
            <a:r>
              <a:rPr sz="20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A4A4A"/>
                </a:solidFill>
                <a:latin typeface="Calibri"/>
              </a:rPr>
              <a:t>pra</a:t>
            </a:r>
            <a:r>
              <a:rPr sz="20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A4A4A"/>
                </a:solidFill>
                <a:latin typeface="Calibri"/>
              </a:rPr>
              <a:t>produção</a:t>
            </a:r>
            <a:r>
              <a:rPr sz="2000" b="0" i="0" dirty="0">
                <a:solidFill>
                  <a:srgbClr val="4A4A4A"/>
                </a:solidFill>
                <a:latin typeface="Calibri"/>
              </a:rPr>
              <a:t> multi-</a:t>
            </a:r>
            <a:r>
              <a:rPr sz="2000" b="0" i="0" dirty="0" err="1">
                <a:solidFill>
                  <a:srgbClr val="4A4A4A"/>
                </a:solidFill>
                <a:latin typeface="Calibri"/>
              </a:rPr>
              <a:t>servidor</a:t>
            </a:r>
            <a:r>
              <a:rPr sz="2000" b="0" i="0" dirty="0">
                <a:solidFill>
                  <a:srgbClr val="4A4A4A"/>
                </a:solidFill>
                <a:latin typeface="Calibri"/>
              </a:rPr>
              <a:t>, com </a:t>
            </a:r>
            <a:r>
              <a:rPr sz="2000" b="0" i="0" dirty="0" err="1">
                <a:solidFill>
                  <a:srgbClr val="4A4A4A"/>
                </a:solidFill>
                <a:latin typeface="Calibri"/>
              </a:rPr>
              <a:t>automação</a:t>
            </a:r>
            <a:r>
              <a:rPr sz="20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A4A4A"/>
                </a:solidFill>
                <a:latin typeface="Calibri"/>
              </a:rPr>
              <a:t>por</a:t>
            </a:r>
            <a:r>
              <a:rPr sz="20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A4A4A"/>
                </a:solidFill>
                <a:latin typeface="Calibri"/>
              </a:rPr>
              <a:t>cima</a:t>
            </a:r>
            <a:r>
              <a:rPr sz="2000" b="0" i="0" dirty="0">
                <a:solidFill>
                  <a:srgbClr val="4A4A4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m 27">
            <a:extLst>
              <a:ext uri="{FF2B5EF4-FFF2-40B4-BE49-F238E27FC236}">
                <a16:creationId xmlns:a16="http://schemas.microsoft.com/office/drawing/2014/main" id="{18005560-50F8-9BD6-8F15-FFBD3AB2361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1028700" y="4962331"/>
            <a:ext cx="3491711" cy="3375005"/>
            <a:chOff x="0" y="0"/>
            <a:chExt cx="1168874" cy="1129805"/>
          </a:xfrm>
        </p:grpSpPr>
        <p:sp>
          <p:nvSpPr>
            <p:cNvPr id="13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1168874" cy="1129805"/>
            </a:xfrm>
            <a:custGeom>
              <a:avLst/>
              <a:gdLst/>
              <a:ahLst/>
              <a:cxnLst/>
              <a:rect l="l" t="t" r="r" b="b"/>
              <a:pathLst>
                <a:path w="1168874" h="1129805">
                  <a:moveTo>
                    <a:pt x="110861" y="0"/>
                  </a:moveTo>
                  <a:lnTo>
                    <a:pt x="1058012" y="0"/>
                  </a:lnTo>
                  <a:cubicBezTo>
                    <a:pt x="1087415" y="0"/>
                    <a:pt x="1115613" y="11680"/>
                    <a:pt x="1136403" y="32471"/>
                  </a:cubicBezTo>
                  <a:cubicBezTo>
                    <a:pt x="1157194" y="53261"/>
                    <a:pt x="1168874" y="81459"/>
                    <a:pt x="1168874" y="110861"/>
                  </a:cubicBezTo>
                  <a:lnTo>
                    <a:pt x="1168874" y="1018944"/>
                  </a:lnTo>
                  <a:cubicBezTo>
                    <a:pt x="1168874" y="1048346"/>
                    <a:pt x="1157194" y="1076544"/>
                    <a:pt x="1136403" y="1097335"/>
                  </a:cubicBezTo>
                  <a:cubicBezTo>
                    <a:pt x="1115613" y="1118125"/>
                    <a:pt x="1087415" y="1129805"/>
                    <a:pt x="1058012" y="1129805"/>
                  </a:cubicBezTo>
                  <a:lnTo>
                    <a:pt x="110861" y="1129805"/>
                  </a:lnTo>
                  <a:cubicBezTo>
                    <a:pt x="81459" y="1129805"/>
                    <a:pt x="53261" y="1118125"/>
                    <a:pt x="32471" y="1097335"/>
                  </a:cubicBezTo>
                  <a:cubicBezTo>
                    <a:pt x="11680" y="1076544"/>
                    <a:pt x="0" y="1048346"/>
                    <a:pt x="0" y="1018944"/>
                  </a:cubicBezTo>
                  <a:lnTo>
                    <a:pt x="0" y="110861"/>
                  </a:lnTo>
                  <a:cubicBezTo>
                    <a:pt x="0" y="81459"/>
                    <a:pt x="11680" y="53261"/>
                    <a:pt x="32471" y="32471"/>
                  </a:cubicBezTo>
                  <a:cubicBezTo>
                    <a:pt x="53261" y="11680"/>
                    <a:pt x="81459" y="0"/>
                    <a:pt x="110861" y="0"/>
                  </a:cubicBezTo>
                  <a:close/>
                </a:path>
              </a:pathLst>
            </a:custGeom>
            <a:blipFill>
              <a:blip r:embed="rId3"/>
              <a:stretch>
                <a:fillRect t="-1728" b="-172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" name="Freeform 14"/>
          <p:cNvSpPr/>
          <p:nvPr/>
        </p:nvSpPr>
        <p:spPr>
          <a:xfrm>
            <a:off x="11091029" y="5864505"/>
            <a:ext cx="378159" cy="378159"/>
          </a:xfrm>
          <a:custGeom>
            <a:avLst/>
            <a:gdLst/>
            <a:ahLst/>
            <a:cxnLst/>
            <a:rect l="l" t="t" r="r" b="b"/>
            <a:pathLst>
              <a:path w="378159" h="378159">
                <a:moveTo>
                  <a:pt x="0" y="0"/>
                </a:moveTo>
                <a:lnTo>
                  <a:pt x="378159" y="0"/>
                </a:lnTo>
                <a:lnTo>
                  <a:pt x="378159" y="378159"/>
                </a:lnTo>
                <a:lnTo>
                  <a:pt x="0" y="378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Freeform 15"/>
          <p:cNvSpPr/>
          <p:nvPr/>
        </p:nvSpPr>
        <p:spPr>
          <a:xfrm>
            <a:off x="11091029" y="6573720"/>
            <a:ext cx="378159" cy="378159"/>
          </a:xfrm>
          <a:custGeom>
            <a:avLst/>
            <a:gdLst/>
            <a:ahLst/>
            <a:cxnLst/>
            <a:rect l="l" t="t" r="r" b="b"/>
            <a:pathLst>
              <a:path w="378159" h="378159">
                <a:moveTo>
                  <a:pt x="0" y="0"/>
                </a:moveTo>
                <a:lnTo>
                  <a:pt x="378159" y="0"/>
                </a:lnTo>
                <a:lnTo>
                  <a:pt x="378159" y="378159"/>
                </a:lnTo>
                <a:lnTo>
                  <a:pt x="0" y="378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6" name="Freeform 16"/>
          <p:cNvSpPr/>
          <p:nvPr/>
        </p:nvSpPr>
        <p:spPr>
          <a:xfrm>
            <a:off x="11084263" y="7282935"/>
            <a:ext cx="391690" cy="378159"/>
          </a:xfrm>
          <a:custGeom>
            <a:avLst/>
            <a:gdLst/>
            <a:ahLst/>
            <a:cxnLst/>
            <a:rect l="l" t="t" r="r" b="b"/>
            <a:pathLst>
              <a:path w="391690" h="378159">
                <a:moveTo>
                  <a:pt x="0" y="0"/>
                </a:moveTo>
                <a:lnTo>
                  <a:pt x="391691" y="0"/>
                </a:lnTo>
                <a:lnTo>
                  <a:pt x="391691" y="378159"/>
                </a:lnTo>
                <a:lnTo>
                  <a:pt x="0" y="378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7" name="Freeform 17"/>
          <p:cNvSpPr/>
          <p:nvPr/>
        </p:nvSpPr>
        <p:spPr>
          <a:xfrm>
            <a:off x="11094811" y="7992150"/>
            <a:ext cx="370596" cy="378159"/>
          </a:xfrm>
          <a:custGeom>
            <a:avLst/>
            <a:gdLst/>
            <a:ahLst/>
            <a:cxnLst/>
            <a:rect l="l" t="t" r="r" b="b"/>
            <a:pathLst>
              <a:path w="370596" h="378159">
                <a:moveTo>
                  <a:pt x="0" y="0"/>
                </a:moveTo>
                <a:lnTo>
                  <a:pt x="370595" y="0"/>
                </a:lnTo>
                <a:lnTo>
                  <a:pt x="370595" y="378159"/>
                </a:lnTo>
                <a:lnTo>
                  <a:pt x="0" y="378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9" name="TextBox 19"/>
          <p:cNvSpPr txBox="1"/>
          <p:nvPr/>
        </p:nvSpPr>
        <p:spPr>
          <a:xfrm>
            <a:off x="11091029" y="5029006"/>
            <a:ext cx="6168271" cy="59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8"/>
              </a:lnSpc>
            </a:pPr>
            <a:r>
              <a:rPr lang="en-US" sz="5400" b="1" dirty="0">
                <a:solidFill>
                  <a:srgbClr val="FFECED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Vinicius </a:t>
            </a:r>
            <a:r>
              <a:rPr lang="en-US" sz="5400" b="1" dirty="0" err="1">
                <a:solidFill>
                  <a:srgbClr val="FFECED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sanchez</a:t>
            </a:r>
            <a:endParaRPr lang="en-US" sz="5400" b="1" dirty="0">
              <a:solidFill>
                <a:srgbClr val="FFECED"/>
              </a:solidFill>
              <a:latin typeface="Bebas Neue" panose="020B0606020202050201" pitchFamily="34" charset="0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879272" y="5295900"/>
            <a:ext cx="4798128" cy="28296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800" b="1" dirty="0" err="1">
                <a:solidFill>
                  <a:srgbClr val="FFFFFF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Quer</a:t>
            </a:r>
            <a:r>
              <a:rPr lang="en-US" sz="4800" b="1" dirty="0">
                <a:solidFill>
                  <a:srgbClr val="FFFFFF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 me </a:t>
            </a:r>
            <a:r>
              <a:rPr lang="en-US" sz="4800" b="1" dirty="0" err="1">
                <a:solidFill>
                  <a:srgbClr val="FFFFFF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ver</a:t>
            </a:r>
            <a:r>
              <a:rPr lang="en-US" sz="4800" b="1" dirty="0">
                <a:solidFill>
                  <a:srgbClr val="FFFFFF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na</a:t>
            </a:r>
            <a:endParaRPr lang="en-US" sz="4800" b="1" dirty="0">
              <a:solidFill>
                <a:srgbClr val="FFFFFF"/>
              </a:solidFill>
              <a:latin typeface="Bebas Neue" panose="020B0606020202050201" pitchFamily="34" charset="0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5500"/>
              </a:lnSpc>
            </a:pPr>
            <a:r>
              <a:rPr lang="en-US" sz="4800" b="1" dirty="0">
                <a:solidFill>
                  <a:srgbClr val="5A59FC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#ECON27?</a:t>
            </a:r>
          </a:p>
          <a:p>
            <a:pPr algn="l">
              <a:lnSpc>
                <a:spcPts val="5500"/>
              </a:lnSpc>
            </a:pPr>
            <a:r>
              <a:rPr lang="en-US" sz="4800" b="1" dirty="0" err="1">
                <a:solidFill>
                  <a:srgbClr val="FFFFFF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Acesse</a:t>
            </a:r>
            <a:r>
              <a:rPr lang="en-US" sz="4800" b="1" dirty="0">
                <a:solidFill>
                  <a:srgbClr val="FFFFFF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 o </a:t>
            </a:r>
            <a:r>
              <a:rPr lang="en-US" sz="4800" b="1" dirty="0" err="1">
                <a:solidFill>
                  <a:srgbClr val="FFFFFF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QRCode</a:t>
            </a:r>
            <a:r>
              <a:rPr lang="en-US" sz="4800" b="1" dirty="0">
                <a:solidFill>
                  <a:srgbClr val="FFFFFF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 e </a:t>
            </a:r>
            <a:r>
              <a:rPr lang="en-US" sz="4800" b="1" dirty="0" err="1">
                <a:solidFill>
                  <a:srgbClr val="FFFFFF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avalie</a:t>
            </a:r>
            <a:r>
              <a:rPr lang="en-US" sz="4800" b="1" dirty="0">
                <a:solidFill>
                  <a:srgbClr val="FFFFFF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minha</a:t>
            </a:r>
            <a:r>
              <a:rPr lang="en-US" sz="4800" b="1" dirty="0">
                <a:solidFill>
                  <a:srgbClr val="FFFFFF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 palestra!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828049" y="5889477"/>
            <a:ext cx="5431251" cy="34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44"/>
              </a:lnSpc>
            </a:pPr>
            <a:r>
              <a:rPr lang="en-US" sz="2690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@viiniciussanchez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828049" y="6598692"/>
            <a:ext cx="5431251" cy="34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44"/>
              </a:lnSpc>
            </a:pPr>
            <a:r>
              <a:rPr lang="en-US" sz="2690" i="1" dirty="0" err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vinicius-sanchez</a:t>
            </a:r>
            <a:endParaRPr lang="en-US" sz="2690" i="1" dirty="0">
              <a:solidFill>
                <a:srgbClr val="FFFFFF"/>
              </a:solidFill>
              <a:latin typeface="Open Sans Italics"/>
              <a:ea typeface="Open Sans Italics"/>
              <a:cs typeface="Open Sans Italics"/>
              <a:sym typeface="Open Sans Italic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1828049" y="7307907"/>
            <a:ext cx="5431251" cy="34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690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viniciuss.sanchez@gmail.com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828049" y="8017122"/>
            <a:ext cx="5431251" cy="34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690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(17) 9 9666-4049</a:t>
            </a:r>
          </a:p>
        </p:txBody>
      </p:sp>
      <p:pic>
        <p:nvPicPr>
          <p:cNvPr id="44" name="Imagem 43">
            <a:extLst>
              <a:ext uri="{FF2B5EF4-FFF2-40B4-BE49-F238E27FC236}">
                <a16:creationId xmlns:a16="http://schemas.microsoft.com/office/drawing/2014/main" id="{C32F5D9D-9679-09EE-5670-5A3BD16425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202" y="1002124"/>
            <a:ext cx="13446356" cy="2829621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C70A734F-37DB-7E2A-86B1-BE991E6A6D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9278" y="5147056"/>
            <a:ext cx="3050554" cy="30444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6c76add-0d37-486b-9e0e-fa18d19f6949" xsi:nil="true"/>
    <lcf76f155ced4ddcb4097134ff3c332f xmlns="c30c7579-1782-4e6e-a2da-c7ba39ef9d84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BD9A965134E674FB7ED1F28D973FED6" ma:contentTypeVersion="16" ma:contentTypeDescription="Crie um novo documento." ma:contentTypeScope="" ma:versionID="83f04281a2359211e3ef601e4fb9bdd7">
  <xsd:schema xmlns:xsd="http://www.w3.org/2001/XMLSchema" xmlns:xs="http://www.w3.org/2001/XMLSchema" xmlns:p="http://schemas.microsoft.com/office/2006/metadata/properties" xmlns:ns2="c30c7579-1782-4e6e-a2da-c7ba39ef9d84" xmlns:ns3="36c76add-0d37-486b-9e0e-fa18d19f6949" targetNamespace="http://schemas.microsoft.com/office/2006/metadata/properties" ma:root="true" ma:fieldsID="7f97a22e22afa82d44f46ab84021d77b" ns2:_="" ns3:_="">
    <xsd:import namespace="c30c7579-1782-4e6e-a2da-c7ba39ef9d84"/>
    <xsd:import namespace="36c76add-0d37-486b-9e0e-fa18d19f69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0c7579-1782-4e6e-a2da-c7ba39ef9d8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b6dadb39-0040-4ee0-af32-c0863da8f40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c76add-0d37-486b-9e0e-fa18d19f6949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b5e5e10c-495b-4036-8216-c4e34a2b534c}" ma:internalName="TaxCatchAll" ma:showField="CatchAllData" ma:web="36c76add-0d37-486b-9e0e-fa18d19f69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F2DF24-BFBA-4F89-B301-A8B42C9CEDA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5D838A-BC9D-49EF-B32D-C25F436E0AF2}">
  <ds:schemaRefs>
    <ds:schemaRef ds:uri="http://schemas.microsoft.com/office/2006/metadata/properties"/>
    <ds:schemaRef ds:uri="http://schemas.microsoft.com/office/infopath/2007/PartnerControls"/>
    <ds:schemaRef ds:uri="36c76add-0d37-486b-9e0e-fa18d19f6949"/>
    <ds:schemaRef ds:uri="c30c7579-1782-4e6e-a2da-c7ba39ef9d84"/>
  </ds:schemaRefs>
</ds:datastoreItem>
</file>

<file path=customXml/itemProps3.xml><?xml version="1.0" encoding="utf-8"?>
<ds:datastoreItem xmlns:ds="http://schemas.openxmlformats.org/officeDocument/2006/customXml" ds:itemID="{8B868F60-4275-4E8B-BF3A-7B1A905E16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30c7579-1782-4e6e-a2da-c7ba39ef9d84"/>
    <ds:schemaRef ds:uri="36c76add-0d37-486b-9e0e-fa18d19f69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812</TotalTime>
  <Words>270</Words>
  <Application>Microsoft Office PowerPoint</Application>
  <PresentationFormat>Personalizar</PresentationFormat>
  <Paragraphs>37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Bebas Neue</vt:lpstr>
      <vt:lpstr>Courier New</vt:lpstr>
      <vt:lpstr>Calibri</vt:lpstr>
      <vt:lpstr>Open Sans</vt:lpstr>
      <vt:lpstr>Open Sans Italics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ECON25 - PTT Palestrante</dc:title>
  <cp:lastModifiedBy>Vinicius Sanchez</cp:lastModifiedBy>
  <cp:revision>23</cp:revision>
  <dcterms:created xsi:type="dcterms:W3CDTF">2006-08-16T00:00:00Z</dcterms:created>
  <dcterms:modified xsi:type="dcterms:W3CDTF">2026-08-30T20:47:12Z</dcterms:modified>
  <dc:identifier>DAGwvJ-GC0A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0x010100DBD9A965134E674FB7ED1F28D973FED6</vt:lpwstr>
  </property>
  <property fmtid="{D5CDD505-2E9C-101B-9397-08002B2CF9AE}" pid="3" name="MediaServiceImageTags">
    <vt:lpwstr/>
  </property>
</Properties>
</file>